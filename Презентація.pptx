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uce Bold" charset="1" panose="00000800000000000000"/>
      <p:regular r:id="rId17"/>
    </p:embeddedFont>
    <p:embeddedFont>
      <p:font typeface="Open Sauce" charset="1" panose="00000500000000000000"/>
      <p:regular r:id="rId18"/>
    </p:embeddedFont>
    <p:embeddedFont>
      <p:font typeface="Open Sauce Semi-Bold" charset="1" panose="00000700000000000000"/>
      <p:regular r:id="rId19"/>
    </p:embeddedFont>
    <p:embeddedFont>
      <p:font typeface="Open Sauce Medium" charset="1" panose="000006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11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jpeg" Type="http://schemas.openxmlformats.org/officeDocument/2006/relationships/image"/><Relationship Id="rId4" Target="../media/VAHKnPxetbM.mp4" Type="http://schemas.openxmlformats.org/officeDocument/2006/relationships/video"/><Relationship Id="rId5" Target="../media/VAHKnPxetbM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https://github.com/SnizhanaDem/Coursework-ALPR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7148" y="4164768"/>
            <a:ext cx="13773146" cy="259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b="true" sz="3999" spc="-235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РОЗРОБКА ІНТЕЛЕКТУАЛЬНОЇ СИСТЕМИ</a:t>
            </a:r>
          </a:p>
          <a:p>
            <a:pPr algn="l">
              <a:lnSpc>
                <a:spcPts val="4319"/>
              </a:lnSpc>
            </a:pPr>
            <a:r>
              <a:rPr lang="en-US" sz="3999" spc="-235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АВТОМАТИЧНОГО РОЗПІЗНАВАННЯ ТА</a:t>
            </a:r>
          </a:p>
          <a:p>
            <a:pPr algn="l">
              <a:lnSpc>
                <a:spcPts val="4319"/>
              </a:lnSpc>
            </a:pPr>
            <a:r>
              <a:rPr lang="en-US" sz="3999" spc="-235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ВІДСТЕЖЕННЯ НОМЕРНИХ ЗНАКІВ на основі гібридНих методів комп’ютерного зору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027780" y="-4316939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2" y="0"/>
                </a:lnTo>
                <a:lnTo>
                  <a:pt x="22188662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84227" y="449276"/>
            <a:ext cx="11465310" cy="1765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b="true" sz="2600" spc="-9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МІНІСТЕРСТВО ОСВІТИ І НАУКИ УКРАЇНИ</a:t>
            </a:r>
          </a:p>
          <a:p>
            <a:pPr algn="l">
              <a:lnSpc>
                <a:spcPts val="2808"/>
              </a:lnSpc>
            </a:pPr>
            <a:r>
              <a:rPr lang="en-US" b="true" sz="2600" spc="-9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ЛЬВІВСЬКИЙ НАЦІОНАЛЬНИЙ УНІВЕРСИТЕТ ІМЕНІ ІВАНА ФРАНКА</a:t>
            </a:r>
          </a:p>
          <a:p>
            <a:pPr algn="l">
              <a:lnSpc>
                <a:spcPts val="2808"/>
              </a:lnSpc>
            </a:pPr>
          </a:p>
          <a:p>
            <a:pPr algn="l">
              <a:lnSpc>
                <a:spcPts val="2808"/>
              </a:lnSpc>
            </a:pPr>
          </a:p>
          <a:p>
            <a:pPr algn="l">
              <a:lnSpc>
                <a:spcPts val="2808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944219" cy="568248"/>
          </a:xfrm>
          <a:custGeom>
            <a:avLst/>
            <a:gdLst/>
            <a:ahLst/>
            <a:cxnLst/>
            <a:rect r="r" b="b" t="t" l="l"/>
            <a:pathLst>
              <a:path h="568248" w="944219">
                <a:moveTo>
                  <a:pt x="0" y="0"/>
                </a:moveTo>
                <a:lnTo>
                  <a:pt x="944219" y="0"/>
                </a:lnTo>
                <a:lnTo>
                  <a:pt x="944219" y="568248"/>
                </a:lnTo>
                <a:lnTo>
                  <a:pt x="0" y="568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84227" y="1128623"/>
            <a:ext cx="850737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Факульт</a:t>
            </a:r>
            <a:r>
              <a:rPr lang="en-US" sz="2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ет прикладної математики та інформатики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Кафедра дискретного аналізу та інтелектуальних систем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7047201"/>
            <a:ext cx="15912972" cy="0"/>
          </a:xfrm>
          <a:prstGeom prst="line">
            <a:avLst/>
          </a:prstGeom>
          <a:ln cap="flat" w="38100">
            <a:solidFill>
              <a:srgbClr val="3885A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96077" y="7885401"/>
            <a:ext cx="686764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Виконала: </a:t>
            </a:r>
            <a:r>
              <a:rPr lang="en-US" sz="2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ст</a:t>
            </a:r>
            <a:r>
              <a:rPr lang="en-US" sz="2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удентка ПМІ-33с Демко Сніжана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3820" y="8424161"/>
            <a:ext cx="765571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Керівник: </a:t>
            </a:r>
            <a:r>
              <a:rPr lang="en-US" sz="2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професор Щербина Юрій Миколайович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7148" y="2713370"/>
            <a:ext cx="6768227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9"/>
              </a:lnSpc>
              <a:spcBef>
                <a:spcPct val="0"/>
              </a:spcBef>
            </a:pPr>
            <a:r>
              <a:rPr lang="en-US" b="true" sz="58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КУРСОВА РОБОТА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76661" y="4026482"/>
            <a:ext cx="8493488" cy="4522783"/>
          </a:xfrm>
          <a:custGeom>
            <a:avLst/>
            <a:gdLst/>
            <a:ahLst/>
            <a:cxnLst/>
            <a:rect r="r" b="b" t="t" l="l"/>
            <a:pathLst>
              <a:path h="4522783" w="8493488">
                <a:moveTo>
                  <a:pt x="0" y="0"/>
                </a:moveTo>
                <a:lnTo>
                  <a:pt x="8493488" y="0"/>
                </a:lnTo>
                <a:lnTo>
                  <a:pt x="8493488" y="4522783"/>
                </a:lnTo>
                <a:lnTo>
                  <a:pt x="0" y="4522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9700" y="1406160"/>
            <a:ext cx="10473238" cy="21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МЕТА</a:t>
            </a:r>
            <a:r>
              <a:rPr lang="en-US" b="true" sz="7917" spc="-467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</a:t>
            </a:r>
            <a:r>
              <a:rPr lang="en-US" b="true" sz="7917" spc="-467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ТА АКТУАЛЬНІСТЬ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9700" y="5021948"/>
            <a:ext cx="1556875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-35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9700" y="7119406"/>
            <a:ext cx="1556875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-35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76100" y="4898337"/>
            <a:ext cx="5772505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b="true" sz="19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Актуальність: Необхідність</a:t>
            </a:r>
            <a:r>
              <a:rPr lang="en-US" b="true" sz="1999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автоматизації моніторингу трафіку, паркування та безпеки через зростання кількості авто.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66575" y="6706973"/>
            <a:ext cx="5772505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b="true" sz="19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Мета:</a:t>
            </a:r>
            <a:r>
              <a:rPr lang="en-US" b="true" sz="1999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Розробити інтелектуальну систему ALPR, стійку до дестабілізуючих чинників, поєднуючи класичний комп'ютерний зір та глибоке навчання.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71510" y="1123950"/>
            <a:ext cx="12702767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ЗАВДАННЯ ДОСЛІДЖЕННЯ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671510" y="2731646"/>
            <a:ext cx="1385652" cy="6526654"/>
            <a:chOff x="0" y="0"/>
            <a:chExt cx="1847537" cy="870220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847537" cy="1847537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5BFD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78886" y="385209"/>
              <a:ext cx="1744024" cy="1182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0"/>
                </a:lnSpc>
              </a:pPr>
              <a:r>
                <a:rPr lang="en-US" b="true" sz="5817">
                  <a:solidFill>
                    <a:srgbClr val="FBF6F1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01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0" y="2260956"/>
              <a:ext cx="1847537" cy="1847537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97BB">
                  <a:alpha val="84706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4627" y="2595839"/>
              <a:ext cx="1744024" cy="1182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0"/>
                </a:lnSpc>
              </a:pPr>
              <a:r>
                <a:rPr lang="en-US" b="true" sz="5817">
                  <a:solidFill>
                    <a:srgbClr val="FBF6F1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02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0" y="4521911"/>
              <a:ext cx="1847537" cy="1847537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3885AB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1756" y="4866956"/>
              <a:ext cx="1744024" cy="1182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0"/>
                </a:lnSpc>
              </a:pPr>
              <a:r>
                <a:rPr lang="en-US" b="true" sz="5817">
                  <a:solidFill>
                    <a:srgbClr val="FBF6F1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03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6854669"/>
              <a:ext cx="1847537" cy="1847537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85079">
                  <a:alpha val="84706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1756" y="7187401"/>
              <a:ext cx="1744024" cy="1182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0"/>
                </a:lnSpc>
              </a:pPr>
              <a:r>
                <a:rPr lang="en-US" sz="5817" b="true">
                  <a:solidFill>
                    <a:srgbClr val="FBF6F1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04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984341" y="2731646"/>
            <a:ext cx="10576463" cy="6653259"/>
            <a:chOff x="0" y="0"/>
            <a:chExt cx="14101951" cy="887101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4092359" cy="1970074"/>
              <a:chOff x="0" y="0"/>
              <a:chExt cx="3600643" cy="50336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600643" cy="503360"/>
              </a:xfrm>
              <a:custGeom>
                <a:avLst/>
                <a:gdLst/>
                <a:ahLst/>
                <a:cxnLst/>
                <a:rect r="r" b="b" t="t" l="l"/>
                <a:pathLst>
                  <a:path h="503360" w="3600643">
                    <a:moveTo>
                      <a:pt x="15382" y="0"/>
                    </a:moveTo>
                    <a:lnTo>
                      <a:pt x="3585260" y="0"/>
                    </a:lnTo>
                    <a:cubicBezTo>
                      <a:pt x="3593756" y="0"/>
                      <a:pt x="3600643" y="6887"/>
                      <a:pt x="3600643" y="15382"/>
                    </a:cubicBezTo>
                    <a:lnTo>
                      <a:pt x="3600643" y="487978"/>
                    </a:lnTo>
                    <a:cubicBezTo>
                      <a:pt x="3600643" y="496473"/>
                      <a:pt x="3593756" y="503360"/>
                      <a:pt x="3585260" y="503360"/>
                    </a:cubicBezTo>
                    <a:lnTo>
                      <a:pt x="15382" y="503360"/>
                    </a:lnTo>
                    <a:cubicBezTo>
                      <a:pt x="6887" y="503360"/>
                      <a:pt x="0" y="496473"/>
                      <a:pt x="0" y="487978"/>
                    </a:cubicBezTo>
                    <a:lnTo>
                      <a:pt x="0" y="15382"/>
                    </a:lnTo>
                    <a:cubicBezTo>
                      <a:pt x="0" y="6887"/>
                      <a:pt x="6887" y="0"/>
                      <a:pt x="15382" y="0"/>
                    </a:cubicBezTo>
                    <a:close/>
                  </a:path>
                </a:pathLst>
              </a:custGeom>
              <a:solidFill>
                <a:srgbClr val="95BFD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3600643" cy="5033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26305" y="206826"/>
              <a:ext cx="12666069" cy="1078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400"/>
                </a:lnSpc>
              </a:pPr>
              <a:r>
                <a:rPr lang="en-US" b="true" sz="2000" spc="-4">
                  <a:solidFill>
                    <a:srgbClr val="1850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Аналіз</a:t>
              </a:r>
              <a:r>
                <a:rPr lang="en-US" b="true" sz="2000" spc="-4" u="none">
                  <a:solidFill>
                    <a:srgbClr val="1850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сучасних методів попередньої обробки зображень для покращення контрастності та читабельності тексту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9592" y="2296927"/>
              <a:ext cx="14092359" cy="1952483"/>
              <a:chOff x="0" y="0"/>
              <a:chExt cx="3600643" cy="49886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600643" cy="498866"/>
              </a:xfrm>
              <a:custGeom>
                <a:avLst/>
                <a:gdLst/>
                <a:ahLst/>
                <a:cxnLst/>
                <a:rect r="r" b="b" t="t" l="l"/>
                <a:pathLst>
                  <a:path h="498866" w="3600643">
                    <a:moveTo>
                      <a:pt x="15382" y="0"/>
                    </a:moveTo>
                    <a:lnTo>
                      <a:pt x="3585260" y="0"/>
                    </a:lnTo>
                    <a:cubicBezTo>
                      <a:pt x="3593756" y="0"/>
                      <a:pt x="3600643" y="6887"/>
                      <a:pt x="3600643" y="15382"/>
                    </a:cubicBezTo>
                    <a:lnTo>
                      <a:pt x="3600643" y="483483"/>
                    </a:lnTo>
                    <a:cubicBezTo>
                      <a:pt x="3600643" y="491979"/>
                      <a:pt x="3593756" y="498866"/>
                      <a:pt x="3585260" y="498866"/>
                    </a:cubicBezTo>
                    <a:lnTo>
                      <a:pt x="15382" y="498866"/>
                    </a:lnTo>
                    <a:cubicBezTo>
                      <a:pt x="6887" y="498866"/>
                      <a:pt x="0" y="491979"/>
                      <a:pt x="0" y="483483"/>
                    </a:cubicBezTo>
                    <a:lnTo>
                      <a:pt x="0" y="15382"/>
                    </a:lnTo>
                    <a:cubicBezTo>
                      <a:pt x="0" y="6887"/>
                      <a:pt x="6887" y="0"/>
                      <a:pt x="15382" y="0"/>
                    </a:cubicBezTo>
                    <a:close/>
                  </a:path>
                </a:pathLst>
              </a:custGeom>
              <a:solidFill>
                <a:srgbClr val="4E97BB">
                  <a:alpha val="84706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0"/>
                <a:ext cx="3600643" cy="4988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9592" y="4596621"/>
              <a:ext cx="14092359" cy="1965745"/>
              <a:chOff x="0" y="0"/>
              <a:chExt cx="3600643" cy="50225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600643" cy="502254"/>
              </a:xfrm>
              <a:custGeom>
                <a:avLst/>
                <a:gdLst/>
                <a:ahLst/>
                <a:cxnLst/>
                <a:rect r="r" b="b" t="t" l="l"/>
                <a:pathLst>
                  <a:path h="502254" w="3600643">
                    <a:moveTo>
                      <a:pt x="15382" y="0"/>
                    </a:moveTo>
                    <a:lnTo>
                      <a:pt x="3585260" y="0"/>
                    </a:lnTo>
                    <a:cubicBezTo>
                      <a:pt x="3593756" y="0"/>
                      <a:pt x="3600643" y="6887"/>
                      <a:pt x="3600643" y="15382"/>
                    </a:cubicBezTo>
                    <a:lnTo>
                      <a:pt x="3600643" y="486872"/>
                    </a:lnTo>
                    <a:cubicBezTo>
                      <a:pt x="3600643" y="495367"/>
                      <a:pt x="3593756" y="502254"/>
                      <a:pt x="3585260" y="502254"/>
                    </a:cubicBezTo>
                    <a:lnTo>
                      <a:pt x="15382" y="502254"/>
                    </a:lnTo>
                    <a:cubicBezTo>
                      <a:pt x="6887" y="502254"/>
                      <a:pt x="0" y="495367"/>
                      <a:pt x="0" y="486872"/>
                    </a:cubicBezTo>
                    <a:lnTo>
                      <a:pt x="0" y="15382"/>
                    </a:lnTo>
                    <a:cubicBezTo>
                      <a:pt x="0" y="6887"/>
                      <a:pt x="6887" y="0"/>
                      <a:pt x="15382" y="0"/>
                    </a:cubicBezTo>
                    <a:close/>
                  </a:path>
                </a:pathLst>
              </a:custGeom>
              <a:solidFill>
                <a:srgbClr val="3885AB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0"/>
                <a:ext cx="3600643" cy="5022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281876" y="4764162"/>
              <a:ext cx="12954927" cy="1078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400"/>
                </a:lnSpc>
              </a:pPr>
              <a:r>
                <a:rPr lang="en-US" b="true" sz="2000" spc="-4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Інтеграція</a:t>
              </a:r>
              <a:r>
                <a:rPr lang="en-US" b="true" sz="2000" spc="-4" u="none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нейромережевої моделі OCR (EasyOCR / CRNN) для стабільної ідентифікації символів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26305" y="2515853"/>
              <a:ext cx="12377210" cy="1078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400"/>
                </a:lnSpc>
              </a:pPr>
              <a:r>
                <a:rPr lang="en-US" b="true" sz="2000" spc="-4">
                  <a:solidFill>
                    <a:srgbClr val="1850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Реалізація</a:t>
              </a:r>
              <a:r>
                <a:rPr lang="en-US" b="true" sz="2000" spc="-4" u="none">
                  <a:solidFill>
                    <a:srgbClr val="1850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алгоритму детекції об'єктів на основі контурного аналізу та геометричних перетворень для корекції перспективи</a:t>
              </a: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9592" y="6905266"/>
              <a:ext cx="14092359" cy="1965745"/>
              <a:chOff x="0" y="0"/>
              <a:chExt cx="3600643" cy="50225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600643" cy="502254"/>
              </a:xfrm>
              <a:custGeom>
                <a:avLst/>
                <a:gdLst/>
                <a:ahLst/>
                <a:cxnLst/>
                <a:rect r="r" b="b" t="t" l="l"/>
                <a:pathLst>
                  <a:path h="502254" w="3600643">
                    <a:moveTo>
                      <a:pt x="15382" y="0"/>
                    </a:moveTo>
                    <a:lnTo>
                      <a:pt x="3585260" y="0"/>
                    </a:lnTo>
                    <a:cubicBezTo>
                      <a:pt x="3593756" y="0"/>
                      <a:pt x="3600643" y="6887"/>
                      <a:pt x="3600643" y="15382"/>
                    </a:cubicBezTo>
                    <a:lnTo>
                      <a:pt x="3600643" y="486872"/>
                    </a:lnTo>
                    <a:cubicBezTo>
                      <a:pt x="3600643" y="495367"/>
                      <a:pt x="3593756" y="502254"/>
                      <a:pt x="3585260" y="502254"/>
                    </a:cubicBezTo>
                    <a:lnTo>
                      <a:pt x="15382" y="502254"/>
                    </a:lnTo>
                    <a:cubicBezTo>
                      <a:pt x="6887" y="502254"/>
                      <a:pt x="0" y="495367"/>
                      <a:pt x="0" y="486872"/>
                    </a:cubicBezTo>
                    <a:lnTo>
                      <a:pt x="0" y="15382"/>
                    </a:lnTo>
                    <a:cubicBezTo>
                      <a:pt x="0" y="6887"/>
                      <a:pt x="6887" y="0"/>
                      <a:pt x="15382" y="0"/>
                    </a:cubicBezTo>
                    <a:close/>
                  </a:path>
                </a:pathLst>
              </a:custGeom>
              <a:solidFill>
                <a:srgbClr val="185079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0"/>
                <a:ext cx="3600643" cy="5022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281876" y="7092591"/>
              <a:ext cx="13528607" cy="1078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400"/>
                </a:lnSpc>
              </a:pPr>
              <a:r>
                <a:rPr lang="en-US" b="true" sz="2000" spc="-4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Розробка</a:t>
              </a:r>
              <a:r>
                <a:rPr lang="en-US" b="true" sz="2000" spc="-4" u="none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алгоритму відстеження (tracking) та модуля інтелектуальної постобробки на основі накопиченої статистики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35667"/>
            <a:ext cx="8576556" cy="158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49"/>
              </a:lnSpc>
              <a:spcBef>
                <a:spcPct val="0"/>
              </a:spcBef>
            </a:pPr>
            <a:r>
              <a:rPr lang="en-US" b="true" sz="5693" spc="-335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МАТЕМАТИЧНА</a:t>
            </a:r>
            <a:r>
              <a:rPr lang="en-US" b="true" sz="5693" spc="-335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ПОСТАНОВКА </a:t>
            </a:r>
            <a:r>
              <a:rPr lang="en-US" b="true" sz="5693" spc="-335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ЗАДАЧІ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75450"/>
            <a:ext cx="8754391" cy="190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2"/>
              </a:lnSpc>
              <a:spcBef>
                <a:spcPct val="0"/>
              </a:spcBef>
            </a:pPr>
            <a:r>
              <a:rPr lang="en-US" b="true" sz="220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Вхід: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послідовність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кадрів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=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{I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,...,I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}. </a:t>
            </a:r>
          </a:p>
          <a:p>
            <a:pPr algn="l" marL="0" indent="0" lvl="0">
              <a:lnSpc>
                <a:spcPts val="3092"/>
              </a:lnSpc>
              <a:spcBef>
                <a:spcPct val="0"/>
              </a:spcBef>
            </a:pP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Потрібно знайти відображення F: I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→ {S, ID, T},</a:t>
            </a:r>
          </a:p>
          <a:p>
            <a:pPr algn="l" marL="0" indent="0" lvl="0">
              <a:lnSpc>
                <a:spcPts val="3092"/>
              </a:lnSpc>
              <a:spcBef>
                <a:spcPct val="0"/>
              </a:spcBef>
            </a:pP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де S — розпізнаний рядок, </a:t>
            </a:r>
          </a:p>
          <a:p>
            <a:pPr algn="l" marL="0" indent="0" lvl="0">
              <a:lnSpc>
                <a:spcPts val="3092"/>
              </a:lnSpc>
              <a:spcBef>
                <a:spcPct val="0"/>
              </a:spcBef>
            </a:pP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ID — унікальний ідентифікатор авто, </a:t>
            </a:r>
          </a:p>
          <a:p>
            <a:pPr algn="l" marL="0" indent="0" lvl="0">
              <a:lnSpc>
                <a:spcPts val="3092"/>
              </a:lnSpc>
              <a:spcBef>
                <a:spcPct val="0"/>
              </a:spcBef>
            </a:pPr>
            <a:r>
              <a:rPr lang="en-US" b="true" sz="220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 — час фіксації.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13423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84726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660556" y="1028700"/>
            <a:ext cx="6255889" cy="8229600"/>
            <a:chOff x="0" y="0"/>
            <a:chExt cx="812800" cy="10692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069236"/>
            </a:xfrm>
            <a:custGeom>
              <a:avLst/>
              <a:gdLst/>
              <a:ahLst/>
              <a:cxnLst/>
              <a:rect r="r" b="b" t="t" l="l"/>
              <a:pathLst>
                <a:path h="1069236" w="812800">
                  <a:moveTo>
                    <a:pt x="28463" y="0"/>
                  </a:moveTo>
                  <a:lnTo>
                    <a:pt x="784337" y="0"/>
                  </a:lnTo>
                  <a:cubicBezTo>
                    <a:pt x="800056" y="0"/>
                    <a:pt x="812800" y="12744"/>
                    <a:pt x="812800" y="28463"/>
                  </a:cubicBezTo>
                  <a:lnTo>
                    <a:pt x="812800" y="1040772"/>
                  </a:lnTo>
                  <a:cubicBezTo>
                    <a:pt x="812800" y="1056492"/>
                    <a:pt x="800056" y="1069236"/>
                    <a:pt x="784337" y="1069236"/>
                  </a:cubicBezTo>
                  <a:lnTo>
                    <a:pt x="28463" y="1069236"/>
                  </a:lnTo>
                  <a:cubicBezTo>
                    <a:pt x="12744" y="1069236"/>
                    <a:pt x="0" y="1056492"/>
                    <a:pt x="0" y="1040772"/>
                  </a:cubicBezTo>
                  <a:lnTo>
                    <a:pt x="0" y="28463"/>
                  </a:lnTo>
                  <a:cubicBezTo>
                    <a:pt x="0" y="12744"/>
                    <a:pt x="12744" y="0"/>
                    <a:pt x="28463" y="0"/>
                  </a:cubicBezTo>
                  <a:close/>
                </a:path>
              </a:pathLst>
            </a:custGeom>
            <a:blipFill>
              <a:blip r:embed="rId4"/>
              <a:stretch>
                <a:fillRect l="-60083" t="0" r="-60083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79157" y="6893735"/>
            <a:ext cx="7189191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Ключові кроки</a:t>
            </a:r>
          </a:p>
          <a:p>
            <a:pPr algn="just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Локалізація → нормалізація (гомографія) → класифікація (OCR) → корекція та стабілізація.</a:t>
            </a:r>
          </a:p>
        </p:txBody>
      </p:sp>
      <p:sp>
        <p:nvSpPr>
          <p:cNvPr name="AutoShape 10" id="10"/>
          <p:cNvSpPr/>
          <p:nvPr/>
        </p:nvSpPr>
        <p:spPr>
          <a:xfrm flipH="true">
            <a:off x="1047750" y="6630865"/>
            <a:ext cx="10769" cy="1611589"/>
          </a:xfrm>
          <a:prstGeom prst="line">
            <a:avLst/>
          </a:prstGeom>
          <a:ln cap="flat" w="85725">
            <a:solidFill>
              <a:srgbClr val="18507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5837" y="757775"/>
            <a:ext cx="16736327" cy="8771450"/>
            <a:chOff x="0" y="0"/>
            <a:chExt cx="4407921" cy="23101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7921" cy="2310176"/>
            </a:xfrm>
            <a:custGeom>
              <a:avLst/>
              <a:gdLst/>
              <a:ahLst/>
              <a:cxnLst/>
              <a:rect r="r" b="b" t="t" l="l"/>
              <a:pathLst>
                <a:path h="2310176" w="4407921">
                  <a:moveTo>
                    <a:pt x="16190" y="0"/>
                  </a:moveTo>
                  <a:lnTo>
                    <a:pt x="4391731" y="0"/>
                  </a:lnTo>
                  <a:cubicBezTo>
                    <a:pt x="4400672" y="0"/>
                    <a:pt x="4407921" y="7249"/>
                    <a:pt x="4407921" y="16190"/>
                  </a:cubicBezTo>
                  <a:lnTo>
                    <a:pt x="4407921" y="2293986"/>
                  </a:lnTo>
                  <a:cubicBezTo>
                    <a:pt x="4407921" y="2302927"/>
                    <a:pt x="4400672" y="2310176"/>
                    <a:pt x="4391731" y="2310176"/>
                  </a:cubicBezTo>
                  <a:lnTo>
                    <a:pt x="16190" y="2310176"/>
                  </a:lnTo>
                  <a:cubicBezTo>
                    <a:pt x="7249" y="2310176"/>
                    <a:pt x="0" y="2302927"/>
                    <a:pt x="0" y="2293986"/>
                  </a:cubicBezTo>
                  <a:lnTo>
                    <a:pt x="0" y="16190"/>
                  </a:lnTo>
                  <a:cubicBezTo>
                    <a:pt x="0" y="7249"/>
                    <a:pt x="7249" y="0"/>
                    <a:pt x="16190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7921" cy="2348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8287" y="2093212"/>
            <a:ext cx="15991426" cy="7436013"/>
          </a:xfrm>
          <a:custGeom>
            <a:avLst/>
            <a:gdLst/>
            <a:ahLst/>
            <a:cxnLst/>
            <a:rect r="r" b="b" t="t" l="l"/>
            <a:pathLst>
              <a:path h="7436013" w="15991426">
                <a:moveTo>
                  <a:pt x="0" y="0"/>
                </a:moveTo>
                <a:lnTo>
                  <a:pt x="15991426" y="0"/>
                </a:lnTo>
                <a:lnTo>
                  <a:pt x="15991426" y="7436013"/>
                </a:lnTo>
                <a:lnTo>
                  <a:pt x="0" y="74360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56361"/>
            <a:ext cx="15949273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ОГЛЯД ІСНУЮЧИХ РІШЕНЬ</a:t>
            </a:r>
            <a:r>
              <a:rPr lang="en-US" b="true" sz="7917" spc="-467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ALPR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607" y="88498"/>
            <a:ext cx="15521176" cy="2010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31"/>
              </a:lnSpc>
              <a:spcBef>
                <a:spcPct val="0"/>
              </a:spcBef>
            </a:pPr>
            <a:r>
              <a:rPr lang="en-US" b="true" sz="7251" spc="-42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МЕТОДИ</a:t>
            </a:r>
            <a:r>
              <a:rPr lang="en-US" b="true" sz="7251" spc="-427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ТА ІНСТРУМЕНТИ РОЗРОБКИ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78125" y="2255852"/>
            <a:ext cx="3911512" cy="3076524"/>
            <a:chOff x="0" y="0"/>
            <a:chExt cx="5215350" cy="410203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5215350" cy="4102033"/>
              <a:chOff x="0" y="0"/>
              <a:chExt cx="935533" cy="73582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35533" cy="735825"/>
              </a:xfrm>
              <a:custGeom>
                <a:avLst/>
                <a:gdLst/>
                <a:ahLst/>
                <a:cxnLst/>
                <a:rect r="r" b="b" t="t" l="l"/>
                <a:pathLst>
                  <a:path h="735825" w="935533">
                    <a:moveTo>
                      <a:pt x="47502" y="0"/>
                    </a:moveTo>
                    <a:lnTo>
                      <a:pt x="888030" y="0"/>
                    </a:lnTo>
                    <a:cubicBezTo>
                      <a:pt x="914265" y="0"/>
                      <a:pt x="935533" y="21268"/>
                      <a:pt x="935533" y="47502"/>
                    </a:cubicBezTo>
                    <a:lnTo>
                      <a:pt x="935533" y="688323"/>
                    </a:lnTo>
                    <a:cubicBezTo>
                      <a:pt x="935533" y="700921"/>
                      <a:pt x="930528" y="713004"/>
                      <a:pt x="921620" y="721912"/>
                    </a:cubicBezTo>
                    <a:cubicBezTo>
                      <a:pt x="912711" y="730821"/>
                      <a:pt x="900629" y="735825"/>
                      <a:pt x="888030" y="735825"/>
                    </a:cubicBezTo>
                    <a:lnTo>
                      <a:pt x="47502" y="735825"/>
                    </a:lnTo>
                    <a:cubicBezTo>
                      <a:pt x="34904" y="735825"/>
                      <a:pt x="22822" y="730821"/>
                      <a:pt x="13913" y="721912"/>
                    </a:cubicBezTo>
                    <a:cubicBezTo>
                      <a:pt x="5005" y="713004"/>
                      <a:pt x="0" y="700921"/>
                      <a:pt x="0" y="688323"/>
                    </a:cubicBezTo>
                    <a:lnTo>
                      <a:pt x="0" y="47502"/>
                    </a:lnTo>
                    <a:cubicBezTo>
                      <a:pt x="0" y="34904"/>
                      <a:pt x="5005" y="22822"/>
                      <a:pt x="13913" y="13913"/>
                    </a:cubicBezTo>
                    <a:cubicBezTo>
                      <a:pt x="22822" y="5005"/>
                      <a:pt x="34904" y="0"/>
                      <a:pt x="47502" y="0"/>
                    </a:cubicBezTo>
                    <a:close/>
                  </a:path>
                </a:pathLst>
              </a:custGeom>
              <a:solidFill>
                <a:srgbClr val="BBD6E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0"/>
                <a:ext cx="935533" cy="735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44754" y="1594648"/>
              <a:ext cx="4925842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Білатеральна</a:t>
              </a:r>
              <a:r>
                <a:rPr lang="en-US" sz="2100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фільтрація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Детектор Кенні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Контурний аналіз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16347" y="544684"/>
              <a:ext cx="4382657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 spc="23">
                  <a:solidFill>
                    <a:srgbClr val="1850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OpenCV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88244" y="2255852"/>
            <a:ext cx="3911512" cy="3048045"/>
            <a:chOff x="0" y="0"/>
            <a:chExt cx="5215350" cy="406406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215350" cy="4064060"/>
              <a:chOff x="0" y="0"/>
              <a:chExt cx="935533" cy="72901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35533" cy="729014"/>
              </a:xfrm>
              <a:custGeom>
                <a:avLst/>
                <a:gdLst/>
                <a:ahLst/>
                <a:cxnLst/>
                <a:rect r="r" b="b" t="t" l="l"/>
                <a:pathLst>
                  <a:path h="729014" w="935533">
                    <a:moveTo>
                      <a:pt x="47502" y="0"/>
                    </a:moveTo>
                    <a:lnTo>
                      <a:pt x="888030" y="0"/>
                    </a:lnTo>
                    <a:cubicBezTo>
                      <a:pt x="914265" y="0"/>
                      <a:pt x="935533" y="21268"/>
                      <a:pt x="935533" y="47502"/>
                    </a:cubicBezTo>
                    <a:lnTo>
                      <a:pt x="935533" y="681511"/>
                    </a:lnTo>
                    <a:cubicBezTo>
                      <a:pt x="935533" y="694110"/>
                      <a:pt x="930528" y="706192"/>
                      <a:pt x="921620" y="715101"/>
                    </a:cubicBezTo>
                    <a:cubicBezTo>
                      <a:pt x="912711" y="724009"/>
                      <a:pt x="900629" y="729014"/>
                      <a:pt x="888030" y="729014"/>
                    </a:cubicBezTo>
                    <a:lnTo>
                      <a:pt x="47502" y="729014"/>
                    </a:lnTo>
                    <a:cubicBezTo>
                      <a:pt x="34904" y="729014"/>
                      <a:pt x="22822" y="724009"/>
                      <a:pt x="13913" y="715101"/>
                    </a:cubicBezTo>
                    <a:cubicBezTo>
                      <a:pt x="5005" y="706192"/>
                      <a:pt x="0" y="694110"/>
                      <a:pt x="0" y="681511"/>
                    </a:cubicBezTo>
                    <a:lnTo>
                      <a:pt x="0" y="47502"/>
                    </a:lnTo>
                    <a:cubicBezTo>
                      <a:pt x="0" y="34904"/>
                      <a:pt x="5005" y="22822"/>
                      <a:pt x="13913" y="13913"/>
                    </a:cubicBezTo>
                    <a:cubicBezTo>
                      <a:pt x="22822" y="5005"/>
                      <a:pt x="34904" y="0"/>
                      <a:pt x="47502" y="0"/>
                    </a:cubicBezTo>
                    <a:close/>
                  </a:path>
                </a:pathLst>
              </a:custGeom>
              <a:solidFill>
                <a:srgbClr val="6EACC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0"/>
                <a:ext cx="935533" cy="729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40068" y="1445326"/>
              <a:ext cx="4935214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Архітектура</a:t>
              </a:r>
              <a:r>
                <a:rPr lang="en-US" sz="2100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CRNN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CNN + LSTM шари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CTC декодування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95697" y="410491"/>
              <a:ext cx="4382657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 spc="23">
                  <a:solidFill>
                    <a:srgbClr val="1850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EasyOCR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74969" y="6213409"/>
            <a:ext cx="3914668" cy="3346236"/>
            <a:chOff x="0" y="0"/>
            <a:chExt cx="5219558" cy="446164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215350" cy="4461648"/>
              <a:chOff x="0" y="0"/>
              <a:chExt cx="935533" cy="80033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35533" cy="800333"/>
              </a:xfrm>
              <a:custGeom>
                <a:avLst/>
                <a:gdLst/>
                <a:ahLst/>
                <a:cxnLst/>
                <a:rect r="r" b="b" t="t" l="l"/>
                <a:pathLst>
                  <a:path h="800333" w="935533">
                    <a:moveTo>
                      <a:pt x="47502" y="0"/>
                    </a:moveTo>
                    <a:lnTo>
                      <a:pt x="888030" y="0"/>
                    </a:lnTo>
                    <a:cubicBezTo>
                      <a:pt x="914265" y="0"/>
                      <a:pt x="935533" y="21268"/>
                      <a:pt x="935533" y="47502"/>
                    </a:cubicBezTo>
                    <a:lnTo>
                      <a:pt x="935533" y="752831"/>
                    </a:lnTo>
                    <a:cubicBezTo>
                      <a:pt x="935533" y="765429"/>
                      <a:pt x="930528" y="777512"/>
                      <a:pt x="921620" y="786420"/>
                    </a:cubicBezTo>
                    <a:cubicBezTo>
                      <a:pt x="912711" y="795329"/>
                      <a:pt x="900629" y="800333"/>
                      <a:pt x="888030" y="800333"/>
                    </a:cubicBezTo>
                    <a:lnTo>
                      <a:pt x="47502" y="800333"/>
                    </a:lnTo>
                    <a:cubicBezTo>
                      <a:pt x="34904" y="800333"/>
                      <a:pt x="22822" y="795329"/>
                      <a:pt x="13913" y="786420"/>
                    </a:cubicBezTo>
                    <a:cubicBezTo>
                      <a:pt x="5005" y="777512"/>
                      <a:pt x="0" y="765429"/>
                      <a:pt x="0" y="752831"/>
                    </a:cubicBezTo>
                    <a:lnTo>
                      <a:pt x="0" y="47502"/>
                    </a:lnTo>
                    <a:cubicBezTo>
                      <a:pt x="0" y="34904"/>
                      <a:pt x="5005" y="22822"/>
                      <a:pt x="13913" y="13913"/>
                    </a:cubicBezTo>
                    <a:cubicBezTo>
                      <a:pt x="22822" y="5005"/>
                      <a:pt x="34904" y="0"/>
                      <a:pt x="47502" y="0"/>
                    </a:cubicBezTo>
                    <a:close/>
                  </a:path>
                </a:pathLst>
              </a:custGeom>
              <a:solidFill>
                <a:srgbClr val="3885AB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935533" cy="8003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4509" y="1530332"/>
              <a:ext cx="4955049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Адаптивне</a:t>
              </a:r>
              <a:r>
                <a:rPr lang="en-US" sz="2099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вирівнювання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гістограми з обмеженням</a:t>
              </a:r>
            </a:p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контрасту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16347" y="544684"/>
              <a:ext cx="4382657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 spc="23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CLAHE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28556" y="2255852"/>
            <a:ext cx="3911512" cy="3048421"/>
            <a:chOff x="0" y="0"/>
            <a:chExt cx="5215350" cy="4064562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215350" cy="4064562"/>
              <a:chOff x="0" y="0"/>
              <a:chExt cx="935533" cy="72910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35533" cy="729104"/>
              </a:xfrm>
              <a:custGeom>
                <a:avLst/>
                <a:gdLst/>
                <a:ahLst/>
                <a:cxnLst/>
                <a:rect r="r" b="b" t="t" l="l"/>
                <a:pathLst>
                  <a:path h="729104" w="935533">
                    <a:moveTo>
                      <a:pt x="47502" y="0"/>
                    </a:moveTo>
                    <a:lnTo>
                      <a:pt x="888030" y="0"/>
                    </a:lnTo>
                    <a:cubicBezTo>
                      <a:pt x="914265" y="0"/>
                      <a:pt x="935533" y="21268"/>
                      <a:pt x="935533" y="47502"/>
                    </a:cubicBezTo>
                    <a:lnTo>
                      <a:pt x="935533" y="681601"/>
                    </a:lnTo>
                    <a:cubicBezTo>
                      <a:pt x="935533" y="694200"/>
                      <a:pt x="930528" y="706282"/>
                      <a:pt x="921620" y="715191"/>
                    </a:cubicBezTo>
                    <a:cubicBezTo>
                      <a:pt x="912711" y="724099"/>
                      <a:pt x="900629" y="729104"/>
                      <a:pt x="888030" y="729104"/>
                    </a:cubicBezTo>
                    <a:lnTo>
                      <a:pt x="47502" y="729104"/>
                    </a:lnTo>
                    <a:cubicBezTo>
                      <a:pt x="34904" y="729104"/>
                      <a:pt x="22822" y="724099"/>
                      <a:pt x="13913" y="715191"/>
                    </a:cubicBezTo>
                    <a:cubicBezTo>
                      <a:pt x="5005" y="706282"/>
                      <a:pt x="0" y="694200"/>
                      <a:pt x="0" y="681601"/>
                    </a:cubicBezTo>
                    <a:lnTo>
                      <a:pt x="0" y="47502"/>
                    </a:lnTo>
                    <a:cubicBezTo>
                      <a:pt x="0" y="34904"/>
                      <a:pt x="5005" y="22822"/>
                      <a:pt x="13913" y="13913"/>
                    </a:cubicBezTo>
                    <a:cubicBezTo>
                      <a:pt x="22822" y="5005"/>
                      <a:pt x="34904" y="0"/>
                      <a:pt x="47502" y="0"/>
                    </a:cubicBezTo>
                    <a:close/>
                  </a:path>
                </a:pathLst>
              </a:custGeom>
              <a:solidFill>
                <a:srgbClr val="6BA1B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0"/>
                <a:ext cx="935533" cy="7291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41842" y="1434434"/>
              <a:ext cx="4925842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Евклідові відстані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Центроїди об'єктів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Механізм TTL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16347" y="410491"/>
              <a:ext cx="4382657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 spc="23">
                  <a:solidFill>
                    <a:srgbClr val="1850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Трекінг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7188244" y="6213409"/>
            <a:ext cx="3911512" cy="3048421"/>
            <a:chOff x="0" y="0"/>
            <a:chExt cx="5215350" cy="4064562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5215350" cy="4064562"/>
              <a:chOff x="0" y="0"/>
              <a:chExt cx="935533" cy="72910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35533" cy="729104"/>
              </a:xfrm>
              <a:custGeom>
                <a:avLst/>
                <a:gdLst/>
                <a:ahLst/>
                <a:cxnLst/>
                <a:rect r="r" b="b" t="t" l="l"/>
                <a:pathLst>
                  <a:path h="729104" w="935533">
                    <a:moveTo>
                      <a:pt x="47502" y="0"/>
                    </a:moveTo>
                    <a:lnTo>
                      <a:pt x="888030" y="0"/>
                    </a:lnTo>
                    <a:cubicBezTo>
                      <a:pt x="914265" y="0"/>
                      <a:pt x="935533" y="21268"/>
                      <a:pt x="935533" y="47502"/>
                    </a:cubicBezTo>
                    <a:lnTo>
                      <a:pt x="935533" y="681601"/>
                    </a:lnTo>
                    <a:cubicBezTo>
                      <a:pt x="935533" y="694200"/>
                      <a:pt x="930528" y="706282"/>
                      <a:pt x="921620" y="715191"/>
                    </a:cubicBezTo>
                    <a:cubicBezTo>
                      <a:pt x="912711" y="724099"/>
                      <a:pt x="900629" y="729104"/>
                      <a:pt x="888030" y="729104"/>
                    </a:cubicBezTo>
                    <a:lnTo>
                      <a:pt x="47502" y="729104"/>
                    </a:lnTo>
                    <a:cubicBezTo>
                      <a:pt x="34904" y="729104"/>
                      <a:pt x="22822" y="724099"/>
                      <a:pt x="13913" y="715191"/>
                    </a:cubicBezTo>
                    <a:cubicBezTo>
                      <a:pt x="5005" y="706282"/>
                      <a:pt x="0" y="694200"/>
                      <a:pt x="0" y="681601"/>
                    </a:cubicBezTo>
                    <a:lnTo>
                      <a:pt x="0" y="47502"/>
                    </a:lnTo>
                    <a:cubicBezTo>
                      <a:pt x="0" y="34904"/>
                      <a:pt x="5005" y="22822"/>
                      <a:pt x="13913" y="13913"/>
                    </a:cubicBezTo>
                    <a:cubicBezTo>
                      <a:pt x="22822" y="5005"/>
                      <a:pt x="34904" y="0"/>
                      <a:pt x="47502" y="0"/>
                    </a:cubicBezTo>
                    <a:close/>
                  </a:path>
                </a:pathLst>
              </a:custGeom>
              <a:solidFill>
                <a:srgbClr val="437A9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0"/>
                <a:ext cx="935533" cy="7291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799"/>
                  </a:lnSpc>
                </a:pPr>
              </a:p>
              <a:p>
                <a:pPr algn="ctr" marL="0" indent="0" lvl="0">
                  <a:lnSpc>
                    <a:spcPts val="479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0" y="1445326"/>
              <a:ext cx="521535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Багатопотокова оброб</a:t>
              </a:r>
              <a:r>
                <a:rPr lang="en-US" sz="2099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ка</a:t>
              </a:r>
            </a:p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QThread + сигнали</a:t>
              </a:r>
            </a:p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Графічний інтерфейс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350402" y="398714"/>
              <a:ext cx="2098199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PyQt6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2928556" y="6213409"/>
            <a:ext cx="3911512" cy="3419896"/>
            <a:chOff x="0" y="0"/>
            <a:chExt cx="5215350" cy="4559862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5215350" cy="4559862"/>
              <a:chOff x="0" y="0"/>
              <a:chExt cx="935533" cy="817951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935533" cy="817951"/>
              </a:xfrm>
              <a:custGeom>
                <a:avLst/>
                <a:gdLst/>
                <a:ahLst/>
                <a:cxnLst/>
                <a:rect r="r" b="b" t="t" l="l"/>
                <a:pathLst>
                  <a:path h="817951" w="935533">
                    <a:moveTo>
                      <a:pt x="47502" y="0"/>
                    </a:moveTo>
                    <a:lnTo>
                      <a:pt x="888030" y="0"/>
                    </a:lnTo>
                    <a:cubicBezTo>
                      <a:pt x="914265" y="0"/>
                      <a:pt x="935533" y="21268"/>
                      <a:pt x="935533" y="47502"/>
                    </a:cubicBezTo>
                    <a:lnTo>
                      <a:pt x="935533" y="770449"/>
                    </a:lnTo>
                    <a:cubicBezTo>
                      <a:pt x="935533" y="783047"/>
                      <a:pt x="930528" y="795129"/>
                      <a:pt x="921620" y="804038"/>
                    </a:cubicBezTo>
                    <a:cubicBezTo>
                      <a:pt x="912711" y="812946"/>
                      <a:pt x="900629" y="817951"/>
                      <a:pt x="888030" y="817951"/>
                    </a:cubicBezTo>
                    <a:lnTo>
                      <a:pt x="47502" y="817951"/>
                    </a:lnTo>
                    <a:cubicBezTo>
                      <a:pt x="34904" y="817951"/>
                      <a:pt x="22822" y="812946"/>
                      <a:pt x="13913" y="804038"/>
                    </a:cubicBezTo>
                    <a:cubicBezTo>
                      <a:pt x="5005" y="795129"/>
                      <a:pt x="0" y="783047"/>
                      <a:pt x="0" y="770449"/>
                    </a:cubicBezTo>
                    <a:lnTo>
                      <a:pt x="0" y="47502"/>
                    </a:lnTo>
                    <a:cubicBezTo>
                      <a:pt x="0" y="34904"/>
                      <a:pt x="5005" y="22822"/>
                      <a:pt x="13913" y="13913"/>
                    </a:cubicBezTo>
                    <a:cubicBezTo>
                      <a:pt x="22822" y="5005"/>
                      <a:pt x="34904" y="0"/>
                      <a:pt x="47502" y="0"/>
                    </a:cubicBezTo>
                    <a:close/>
                  </a:path>
                </a:pathLst>
              </a:custGeom>
              <a:solidFill>
                <a:srgbClr val="2E679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935533" cy="8179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761092" y="302101"/>
              <a:ext cx="2152491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pytest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39845" y="1459800"/>
              <a:ext cx="4800458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38 модульних т</a:t>
              </a:r>
              <a:r>
                <a:rPr lang="en-US" sz="210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естів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Покриття ключових модулів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Автоматична верифікація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886757" y="4390981"/>
            <a:ext cx="20061513" cy="0"/>
          </a:xfrm>
          <a:prstGeom prst="line">
            <a:avLst/>
          </a:prstGeom>
          <a:ln cap="flat" w="28575">
            <a:solidFill>
              <a:srgbClr val="18507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69147" y="4211205"/>
            <a:ext cx="359553" cy="35955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174625"/>
              <a:ext cx="55880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67972" y="4731471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b="true" sz="50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03496" y="4731471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b="true" sz="50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7972" y="5439496"/>
            <a:ext cx="2768862" cy="1469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99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Відеокадр</a:t>
            </a:r>
          </a:p>
          <a:p>
            <a:pPr algn="l">
              <a:lnSpc>
                <a:spcPts val="2979"/>
              </a:lnSpc>
            </a:pPr>
          </a:p>
          <a:p>
            <a:pPr algn="l">
              <a:lnSpc>
                <a:spcPts val="2979"/>
              </a:lnSpc>
            </a:pPr>
            <a:r>
              <a:rPr lang="en-US" sz="19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Вхідний потік</a:t>
            </a:r>
          </a:p>
          <a:p>
            <a:pPr algn="l">
              <a:lnSpc>
                <a:spcPts val="2979"/>
              </a:lnSpc>
            </a:pPr>
            <a:r>
              <a:rPr lang="en-US" sz="19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(файл mp4)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03496" y="5439496"/>
            <a:ext cx="2762818" cy="180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99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19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lateDetector</a:t>
            </a:r>
          </a:p>
          <a:p>
            <a:pPr algn="l">
              <a:lnSpc>
                <a:spcPts val="2681"/>
              </a:lnSpc>
            </a:pPr>
          </a:p>
          <a:p>
            <a:pPr algn="l">
              <a:lnSpc>
                <a:spcPts val="2979"/>
              </a:lnSpc>
            </a:pPr>
            <a:r>
              <a:rPr lang="en-US" sz="19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Білатеральний фільтр → Кенні → контурний аналіз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9957" y="4565988"/>
            <a:ext cx="2391189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b="true" sz="50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03./04.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18508" y="5439496"/>
            <a:ext cx="2762818" cy="180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99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PlateRecognizer</a:t>
            </a:r>
          </a:p>
          <a:p>
            <a:pPr algn="l">
              <a:lnSpc>
                <a:spcPts val="2681"/>
              </a:lnSpc>
            </a:pPr>
          </a:p>
          <a:p>
            <a:pPr algn="l">
              <a:lnSpc>
                <a:spcPts val="2979"/>
              </a:lnSpc>
            </a:pPr>
            <a:r>
              <a:rPr lang="en-US" sz="19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Perspective Warp → CLAHE → EasyOCR (CNN+LSTM)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72352" y="5477596"/>
            <a:ext cx="2762818" cy="143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99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CentroidTracker</a:t>
            </a:r>
          </a:p>
          <a:p>
            <a:pPr algn="l">
              <a:lnSpc>
                <a:spcPts val="2681"/>
              </a:lnSpc>
            </a:pPr>
          </a:p>
          <a:p>
            <a:pPr algn="l">
              <a:lnSpc>
                <a:spcPts val="2979"/>
              </a:lnSpc>
            </a:pPr>
            <a:r>
              <a:rPr lang="en-US" sz="19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Евклідова відстань → car_id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839199" y="4211205"/>
            <a:ext cx="359553" cy="35955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174625"/>
              <a:ext cx="55880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93341" y="4207712"/>
            <a:ext cx="359553" cy="35955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174625"/>
              <a:ext cx="55880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47483" y="4211205"/>
            <a:ext cx="359553" cy="35955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174625"/>
              <a:ext cx="55880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-872211" y="366272"/>
            <a:ext cx="16480782" cy="219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0"/>
              </a:lnSpc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АРХІТЕКТУРА СИСТЕМИ ALPR</a:t>
            </a:r>
          </a:p>
          <a:p>
            <a:pPr algn="ctr" marL="0" indent="0" lvl="0">
              <a:lnSpc>
                <a:spcPts val="8550"/>
              </a:lnSpc>
              <a:spcBef>
                <a:spcPct val="0"/>
              </a:spcBef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16516912" y="4211205"/>
            <a:ext cx="359553" cy="359553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7000" y="174625"/>
              <a:ext cx="55880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5400000">
            <a:off x="2301546" y="8259506"/>
            <a:ext cx="699126" cy="771450"/>
          </a:xfrm>
          <a:custGeom>
            <a:avLst/>
            <a:gdLst/>
            <a:ahLst/>
            <a:cxnLst/>
            <a:rect r="r" b="b" t="t" l="l"/>
            <a:pathLst>
              <a:path h="771450" w="699126">
                <a:moveTo>
                  <a:pt x="0" y="0"/>
                </a:moveTo>
                <a:lnTo>
                  <a:pt x="699127" y="0"/>
                </a:lnTo>
                <a:lnTo>
                  <a:pt x="699127" y="771449"/>
                </a:lnTo>
                <a:lnTo>
                  <a:pt x="0" y="7714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45144" y="1417201"/>
            <a:ext cx="694766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sz="26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Модульний конв</a:t>
            </a:r>
            <a:r>
              <a:rPr lang="en-US" sz="26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еєр обробки відеоданих</a:t>
            </a:r>
          </a:p>
          <a:p>
            <a:pPr algn="ctr">
              <a:lnSpc>
                <a:spcPts val="3239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5909314" y="5439496"/>
            <a:ext cx="2206848" cy="180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99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Rolling Vote</a:t>
            </a:r>
          </a:p>
          <a:p>
            <a:pPr algn="l">
              <a:lnSpc>
                <a:spcPts val="2681"/>
              </a:lnSpc>
            </a:pPr>
          </a:p>
          <a:p>
            <a:pPr algn="l">
              <a:lnSpc>
                <a:spcPts val="2979"/>
              </a:lnSpc>
            </a:pPr>
            <a:r>
              <a:rPr lang="en-US" sz="19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Мода з 25 кадрів → стабільний номер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26196" y="5439496"/>
            <a:ext cx="2782375" cy="143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99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PlateValidator</a:t>
            </a:r>
          </a:p>
          <a:p>
            <a:pPr algn="l">
              <a:lnSpc>
                <a:spcPts val="2681"/>
              </a:lnSpc>
            </a:pPr>
          </a:p>
          <a:p>
            <a:pPr algn="l">
              <a:lnSpc>
                <a:spcPts val="2979"/>
              </a:lnSpc>
            </a:pPr>
            <a:r>
              <a:rPr lang="en-US" sz="19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Regex + позиційна корекція + whitelist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49966" y="4646958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b="true" sz="50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918839" y="4646958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b="true" sz="50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0537608" y="-7111615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3173320" y="8287852"/>
            <a:ext cx="14728578" cy="726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  <a:spcBef>
                <a:spcPct val="0"/>
              </a:spcBef>
            </a:pPr>
            <a:r>
              <a:rPr lang="en-US" sz="2000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Багатопотокова архіт</a:t>
            </a:r>
            <a:r>
              <a:rPr lang="en-US" sz="2000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ектура: VideoWorker (QThread) — обчислення у фоні, Main GUI Thread — відображення. Сигнали/слоти PyQt6 синхронізують потоки без блокувань.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-9628092" y="4948583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2349" y="289769"/>
            <a:ext cx="17775651" cy="152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01"/>
              </a:lnSpc>
              <a:spcBef>
                <a:spcPct val="0"/>
              </a:spcBef>
            </a:pPr>
            <a:r>
              <a:rPr lang="en-US" b="true" sz="5464" spc="-322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РЕЗУЛЬТАТИ ЕКСПЕРИМЕНТАЛЬНИХ Д</a:t>
            </a:r>
            <a:r>
              <a:rPr lang="en-US" b="true" sz="5464" spc="-322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ОСЛІДЖЕНЬ</a:t>
            </a:r>
          </a:p>
          <a:p>
            <a:pPr algn="l" marL="0" indent="0" lvl="0">
              <a:lnSpc>
                <a:spcPts val="5901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20613" y="1202019"/>
            <a:ext cx="12654127" cy="2592776"/>
          </a:xfrm>
          <a:custGeom>
            <a:avLst/>
            <a:gdLst/>
            <a:ahLst/>
            <a:cxnLst/>
            <a:rect r="r" b="b" t="t" l="l"/>
            <a:pathLst>
              <a:path h="2592776" w="12654127">
                <a:moveTo>
                  <a:pt x="0" y="0"/>
                </a:moveTo>
                <a:lnTo>
                  <a:pt x="12654127" y="0"/>
                </a:lnTo>
                <a:lnTo>
                  <a:pt x="12654127" y="2592776"/>
                </a:lnTo>
                <a:lnTo>
                  <a:pt x="0" y="2592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62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512349" y="4688737"/>
          <a:ext cx="10629900" cy="4400550"/>
        </p:xfrm>
        <a:graphic>
          <a:graphicData uri="http://schemas.openxmlformats.org/presentationml/2006/ole">
            <p:oleObj imgW="12750800" imgH="65151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11455433" y="3794795"/>
            <a:ext cx="6382768" cy="5706527"/>
          </a:xfrm>
          <a:custGeom>
            <a:avLst/>
            <a:gdLst/>
            <a:ahLst/>
            <a:cxnLst/>
            <a:rect r="r" b="b" t="t" l="l"/>
            <a:pathLst>
              <a:path h="5706527" w="6382768">
                <a:moveTo>
                  <a:pt x="0" y="0"/>
                </a:moveTo>
                <a:lnTo>
                  <a:pt x="6382768" y="0"/>
                </a:lnTo>
                <a:lnTo>
                  <a:pt x="6382768" y="5706527"/>
                </a:lnTo>
                <a:lnTo>
                  <a:pt x="0" y="5706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75201" y="46887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2349" y="3728120"/>
            <a:ext cx="4049228" cy="873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b="true" sz="23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Порівняння з</a:t>
            </a:r>
            <a:r>
              <a:rPr lang="en-US" b="true" sz="23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аналогами</a:t>
            </a:r>
          </a:p>
          <a:p>
            <a:pPr algn="ctr">
              <a:lnSpc>
                <a:spcPts val="3575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8153289" y="-809206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72257" y="-674575"/>
            <a:ext cx="20127625" cy="11488702"/>
            <a:chOff x="0" y="0"/>
            <a:chExt cx="5301103" cy="30258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01103" cy="3025831"/>
            </a:xfrm>
            <a:custGeom>
              <a:avLst/>
              <a:gdLst/>
              <a:ahLst/>
              <a:cxnLst/>
              <a:rect r="r" b="b" t="t" l="l"/>
              <a:pathLst>
                <a:path h="3025831" w="5301103">
                  <a:moveTo>
                    <a:pt x="13078" y="0"/>
                  </a:moveTo>
                  <a:lnTo>
                    <a:pt x="5288025" y="0"/>
                  </a:lnTo>
                  <a:cubicBezTo>
                    <a:pt x="5291493" y="0"/>
                    <a:pt x="5294820" y="1378"/>
                    <a:pt x="5297272" y="3830"/>
                  </a:cubicBezTo>
                  <a:cubicBezTo>
                    <a:pt x="5299725" y="6283"/>
                    <a:pt x="5301103" y="9609"/>
                    <a:pt x="5301103" y="13078"/>
                  </a:cubicBezTo>
                  <a:lnTo>
                    <a:pt x="5301103" y="3012753"/>
                  </a:lnTo>
                  <a:cubicBezTo>
                    <a:pt x="5301103" y="3019976"/>
                    <a:pt x="5295248" y="3025831"/>
                    <a:pt x="5288025" y="3025831"/>
                  </a:cubicBezTo>
                  <a:lnTo>
                    <a:pt x="13078" y="3025831"/>
                  </a:lnTo>
                  <a:cubicBezTo>
                    <a:pt x="9609" y="3025831"/>
                    <a:pt x="6283" y="3024453"/>
                    <a:pt x="3830" y="3022000"/>
                  </a:cubicBezTo>
                  <a:cubicBezTo>
                    <a:pt x="1378" y="3019548"/>
                    <a:pt x="0" y="3016222"/>
                    <a:pt x="0" y="3012753"/>
                  </a:cubicBezTo>
                  <a:lnTo>
                    <a:pt x="0" y="13078"/>
                  </a:lnTo>
                  <a:cubicBezTo>
                    <a:pt x="0" y="5855"/>
                    <a:pt x="5855" y="0"/>
                    <a:pt x="13078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301103" cy="3063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2140085" y="1765939"/>
            <a:ext cx="14007830" cy="8229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8700" y="368554"/>
            <a:ext cx="16454151" cy="111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ВІДЕО-ДЕМОНСТРАЦІЯ ПРОГРАМИ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1945" y="289565"/>
            <a:ext cx="15680306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ВИСНОВКИ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507429" y="3033260"/>
            <a:ext cx="6215118" cy="3011210"/>
            <a:chOff x="0" y="0"/>
            <a:chExt cx="1636904" cy="7930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6904" cy="793076"/>
            </a:xfrm>
            <a:custGeom>
              <a:avLst/>
              <a:gdLst/>
              <a:ahLst/>
              <a:cxnLst/>
              <a:rect r="r" b="b" t="t" l="l"/>
              <a:pathLst>
                <a:path h="793076" w="1636904">
                  <a:moveTo>
                    <a:pt x="21176" y="0"/>
                  </a:moveTo>
                  <a:lnTo>
                    <a:pt x="1615727" y="0"/>
                  </a:lnTo>
                  <a:cubicBezTo>
                    <a:pt x="1621344" y="0"/>
                    <a:pt x="1626730" y="2231"/>
                    <a:pt x="1630701" y="6202"/>
                  </a:cubicBezTo>
                  <a:cubicBezTo>
                    <a:pt x="1634673" y="10174"/>
                    <a:pt x="1636904" y="15560"/>
                    <a:pt x="1636904" y="21176"/>
                  </a:cubicBezTo>
                  <a:lnTo>
                    <a:pt x="1636904" y="771900"/>
                  </a:lnTo>
                  <a:cubicBezTo>
                    <a:pt x="1636904" y="783595"/>
                    <a:pt x="1627423" y="793076"/>
                    <a:pt x="1615727" y="793076"/>
                  </a:cubicBezTo>
                  <a:lnTo>
                    <a:pt x="21176" y="793076"/>
                  </a:lnTo>
                  <a:cubicBezTo>
                    <a:pt x="9481" y="793076"/>
                    <a:pt x="0" y="783595"/>
                    <a:pt x="0" y="771900"/>
                  </a:cubicBezTo>
                  <a:lnTo>
                    <a:pt x="0" y="21176"/>
                  </a:lnTo>
                  <a:cubicBezTo>
                    <a:pt x="0" y="15560"/>
                    <a:pt x="2231" y="10174"/>
                    <a:pt x="6202" y="6202"/>
                  </a:cubicBezTo>
                  <a:cubicBezTo>
                    <a:pt x="10174" y="2231"/>
                    <a:pt x="15560" y="0"/>
                    <a:pt x="21176" y="0"/>
                  </a:cubicBezTo>
                  <a:close/>
                </a:path>
              </a:pathLst>
            </a:custGeom>
            <a:solidFill>
              <a:srgbClr val="4E97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636904" cy="754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1382" y="6445169"/>
            <a:ext cx="6215118" cy="3011210"/>
            <a:chOff x="0" y="0"/>
            <a:chExt cx="1636904" cy="7930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6904" cy="793076"/>
            </a:xfrm>
            <a:custGeom>
              <a:avLst/>
              <a:gdLst/>
              <a:ahLst/>
              <a:cxnLst/>
              <a:rect r="r" b="b" t="t" l="l"/>
              <a:pathLst>
                <a:path h="793076" w="1636904">
                  <a:moveTo>
                    <a:pt x="21176" y="0"/>
                  </a:moveTo>
                  <a:lnTo>
                    <a:pt x="1615727" y="0"/>
                  </a:lnTo>
                  <a:cubicBezTo>
                    <a:pt x="1621344" y="0"/>
                    <a:pt x="1626730" y="2231"/>
                    <a:pt x="1630701" y="6202"/>
                  </a:cubicBezTo>
                  <a:cubicBezTo>
                    <a:pt x="1634673" y="10174"/>
                    <a:pt x="1636904" y="15560"/>
                    <a:pt x="1636904" y="21176"/>
                  </a:cubicBezTo>
                  <a:lnTo>
                    <a:pt x="1636904" y="771900"/>
                  </a:lnTo>
                  <a:cubicBezTo>
                    <a:pt x="1636904" y="783595"/>
                    <a:pt x="1627423" y="793076"/>
                    <a:pt x="1615727" y="793076"/>
                  </a:cubicBezTo>
                  <a:lnTo>
                    <a:pt x="21176" y="793076"/>
                  </a:lnTo>
                  <a:cubicBezTo>
                    <a:pt x="9481" y="793076"/>
                    <a:pt x="0" y="783595"/>
                    <a:pt x="0" y="771900"/>
                  </a:cubicBezTo>
                  <a:lnTo>
                    <a:pt x="0" y="21176"/>
                  </a:lnTo>
                  <a:cubicBezTo>
                    <a:pt x="0" y="15560"/>
                    <a:pt x="2231" y="10174"/>
                    <a:pt x="6202" y="6202"/>
                  </a:cubicBezTo>
                  <a:cubicBezTo>
                    <a:pt x="10174" y="2231"/>
                    <a:pt x="15560" y="0"/>
                    <a:pt x="21176" y="0"/>
                  </a:cubicBezTo>
                  <a:close/>
                </a:path>
              </a:pathLst>
            </a:custGeom>
            <a:solidFill>
              <a:srgbClr val="4E97B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1636904" cy="754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8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14696" y="3328239"/>
            <a:ext cx="13494518" cy="921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4"/>
              </a:lnSpc>
            </a:pPr>
          </a:p>
          <a:p>
            <a:pPr algn="l" marL="0" indent="0" lvl="0">
              <a:lnSpc>
                <a:spcPts val="3794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7307949" y="3808169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89730" y="2547792"/>
            <a:ext cx="6215118" cy="3011210"/>
            <a:chOff x="0" y="0"/>
            <a:chExt cx="1636904" cy="7930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36904" cy="793076"/>
            </a:xfrm>
            <a:custGeom>
              <a:avLst/>
              <a:gdLst/>
              <a:ahLst/>
              <a:cxnLst/>
              <a:rect r="r" b="b" t="t" l="l"/>
              <a:pathLst>
                <a:path h="793076" w="1636904">
                  <a:moveTo>
                    <a:pt x="21176" y="0"/>
                  </a:moveTo>
                  <a:lnTo>
                    <a:pt x="1615727" y="0"/>
                  </a:lnTo>
                  <a:cubicBezTo>
                    <a:pt x="1621344" y="0"/>
                    <a:pt x="1626730" y="2231"/>
                    <a:pt x="1630701" y="6202"/>
                  </a:cubicBezTo>
                  <a:cubicBezTo>
                    <a:pt x="1634673" y="10174"/>
                    <a:pt x="1636904" y="15560"/>
                    <a:pt x="1636904" y="21176"/>
                  </a:cubicBezTo>
                  <a:lnTo>
                    <a:pt x="1636904" y="771900"/>
                  </a:lnTo>
                  <a:cubicBezTo>
                    <a:pt x="1636904" y="783595"/>
                    <a:pt x="1627423" y="793076"/>
                    <a:pt x="1615727" y="793076"/>
                  </a:cubicBezTo>
                  <a:lnTo>
                    <a:pt x="21176" y="793076"/>
                  </a:lnTo>
                  <a:cubicBezTo>
                    <a:pt x="9481" y="793076"/>
                    <a:pt x="0" y="783595"/>
                    <a:pt x="0" y="771900"/>
                  </a:cubicBezTo>
                  <a:lnTo>
                    <a:pt x="0" y="21176"/>
                  </a:lnTo>
                  <a:cubicBezTo>
                    <a:pt x="0" y="15560"/>
                    <a:pt x="2231" y="10174"/>
                    <a:pt x="6202" y="6202"/>
                  </a:cubicBezTo>
                  <a:cubicBezTo>
                    <a:pt x="10174" y="2231"/>
                    <a:pt x="15560" y="0"/>
                    <a:pt x="21176" y="0"/>
                  </a:cubicBezTo>
                  <a:close/>
                </a:path>
              </a:pathLst>
            </a:custGeom>
            <a:solidFill>
              <a:srgbClr val="4E97B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38100"/>
              <a:ext cx="1636904" cy="754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8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94333" y="3190621"/>
            <a:ext cx="5805912" cy="1763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8"/>
              </a:lnSpc>
              <a:spcBef>
                <a:spcPct val="0"/>
              </a:spcBef>
            </a:pPr>
            <a:r>
              <a:rPr lang="en-US" b="true" sz="2600" spc="-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</a:t>
            </a:r>
            <a:r>
              <a:rPr lang="en-US" b="true" sz="2600" spc="-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ЕАЛІЗОВАНО ШВИДКИЙ ДЕТЕКТОР НА ОСНОВІ БІЛАТЕРАЛЬНОГО ЗГЛАДЖУВАННЯ, CANNY ТА АПРОКСИМАЦІЇ КОНТУРІВ.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24264" y="3852302"/>
            <a:ext cx="5288225" cy="1411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8"/>
              </a:lnSpc>
              <a:spcBef>
                <a:spcPct val="0"/>
              </a:spcBef>
            </a:pPr>
            <a:r>
              <a:rPr lang="en-US" b="true" sz="2600" spc="-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ВПРОВАДЖЕНО ТР</a:t>
            </a:r>
            <a:r>
              <a:rPr lang="en-US" b="true" sz="2600" spc="-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ЕКІНГ ЗА ЦЕНТРОЇДАМИ І ROLLING VOTE (25 КАДРІВ) ДЛЯ СТАБІЛЬНОСТІ РЕЗУЛЬТАТІВ.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44924" y="7264210"/>
            <a:ext cx="5228035" cy="1411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8"/>
              </a:lnSpc>
              <a:spcBef>
                <a:spcPct val="0"/>
              </a:spcBef>
            </a:pPr>
            <a:r>
              <a:rPr lang="en-US" b="true" sz="2600" spc="-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ВВЕДЕННО ПОЗИЦІЙНУ КОР</a:t>
            </a:r>
            <a:r>
              <a:rPr lang="en-US" b="true" sz="2600" spc="-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ЕКЦІЮ ОМОГЛІФІВ ТА ВЕРИФІКАЦІЮ ЗА ДСТУ 4278:2019.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07429" y="7169833"/>
            <a:ext cx="6215118" cy="3011210"/>
            <a:chOff x="0" y="0"/>
            <a:chExt cx="8286824" cy="401494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8286824" cy="4014947"/>
              <a:chOff x="0" y="0"/>
              <a:chExt cx="1636904" cy="79307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636904" cy="793076"/>
              </a:xfrm>
              <a:custGeom>
                <a:avLst/>
                <a:gdLst/>
                <a:ahLst/>
                <a:cxnLst/>
                <a:rect r="r" b="b" t="t" l="l"/>
                <a:pathLst>
                  <a:path h="793076" w="1636904">
                    <a:moveTo>
                      <a:pt x="21176" y="0"/>
                    </a:moveTo>
                    <a:lnTo>
                      <a:pt x="1615727" y="0"/>
                    </a:lnTo>
                    <a:cubicBezTo>
                      <a:pt x="1621344" y="0"/>
                      <a:pt x="1626730" y="2231"/>
                      <a:pt x="1630701" y="6202"/>
                    </a:cubicBezTo>
                    <a:cubicBezTo>
                      <a:pt x="1634673" y="10174"/>
                      <a:pt x="1636904" y="15560"/>
                      <a:pt x="1636904" y="21176"/>
                    </a:cubicBezTo>
                    <a:lnTo>
                      <a:pt x="1636904" y="771900"/>
                    </a:lnTo>
                    <a:cubicBezTo>
                      <a:pt x="1636904" y="783595"/>
                      <a:pt x="1627423" y="793076"/>
                      <a:pt x="1615727" y="793076"/>
                    </a:cubicBezTo>
                    <a:lnTo>
                      <a:pt x="21176" y="793076"/>
                    </a:lnTo>
                    <a:cubicBezTo>
                      <a:pt x="9481" y="793076"/>
                      <a:pt x="0" y="783595"/>
                      <a:pt x="0" y="771900"/>
                    </a:cubicBezTo>
                    <a:lnTo>
                      <a:pt x="0" y="21176"/>
                    </a:lnTo>
                    <a:cubicBezTo>
                      <a:pt x="0" y="15560"/>
                      <a:pt x="2231" y="10174"/>
                      <a:pt x="6202" y="6202"/>
                    </a:cubicBezTo>
                    <a:cubicBezTo>
                      <a:pt x="10174" y="2231"/>
                      <a:pt x="15560" y="0"/>
                      <a:pt x="21176" y="0"/>
                    </a:cubicBezTo>
                    <a:close/>
                  </a:path>
                </a:pathLst>
              </a:custGeom>
              <a:solidFill>
                <a:srgbClr val="4E97BB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38100"/>
                <a:ext cx="1636904" cy="7549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8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79581" y="1314305"/>
              <a:ext cx="7536698" cy="1424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8"/>
                </a:lnSpc>
                <a:spcBef>
                  <a:spcPct val="0"/>
                </a:spcBef>
              </a:pPr>
              <a:r>
                <a:rPr lang="en-US" b="true" sz="2600" spc="-93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ПОБУДОВАНО</a:t>
              </a:r>
              <a:r>
                <a:rPr lang="en-US" b="true" sz="2600" spc="-93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БАГАТОПОТОКОВИЙ UI (PYQT6) ТА ПРОЙДЕНО 38 МОДУЛЬНИХ ТЕСТІВ.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8699293" y="2051713"/>
            <a:ext cx="0" cy="8129330"/>
          </a:xfrm>
          <a:prstGeom prst="line">
            <a:avLst/>
          </a:prstGeom>
          <a:ln cap="flat" w="95250">
            <a:solidFill>
              <a:srgbClr val="3885AB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16065"/>
            <a:ext cx="13743572" cy="111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1"/>
              </a:lnSpc>
            </a:pPr>
            <a:r>
              <a:rPr lang="en-US" b="true" sz="7899" spc="-466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ПОДАЛЬШИЙ РОЗВИТОК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597844" y="-4566195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7"/>
                </a:lnTo>
                <a:lnTo>
                  <a:pt x="0" y="18920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040478"/>
            <a:ext cx="12916047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3300" spc="-118" u="sng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4" tooltip="https://github.com/SnizhanaDem/Coursework-ALPR"/>
              </a:rPr>
              <a:t>HTTPS://GITHUB.COM/SNIZHANADEM/COURSEWORK-ALPR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01173"/>
            <a:ext cx="8927782" cy="207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1"/>
              </a:lnSpc>
              <a:spcBef>
                <a:spcPct val="0"/>
              </a:spcBef>
            </a:pPr>
            <a:r>
              <a:rPr lang="en-US" b="true" sz="2195" spc="-12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ПЕРСПЕКТИВИ РОЗВИТКУ ПРО</a:t>
            </a:r>
            <a:r>
              <a:rPr lang="en-US" b="true" sz="2195" spc="-12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ЕКТУ:</a:t>
            </a:r>
          </a:p>
          <a:p>
            <a:pPr algn="just">
              <a:lnSpc>
                <a:spcPts val="2371"/>
              </a:lnSpc>
              <a:spcBef>
                <a:spcPct val="0"/>
              </a:spcBef>
            </a:pPr>
          </a:p>
          <a:p>
            <a:pPr algn="just" marL="473985" indent="-236993" lvl="1">
              <a:lnSpc>
                <a:spcPts val="237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5" spc="-12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І</a:t>
            </a:r>
            <a:r>
              <a:rPr lang="en-US" b="true" sz="2195" spc="-12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нтеграція нейродетекторів (YOLOv8)</a:t>
            </a:r>
          </a:p>
          <a:p>
            <a:pPr algn="just" marL="473985" indent="-236993" lvl="1">
              <a:lnSpc>
                <a:spcPts val="237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5" spc="-12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Розширення бази регіональних кодів</a:t>
            </a:r>
          </a:p>
          <a:p>
            <a:pPr algn="just" marL="473985" indent="-236993" lvl="1">
              <a:lnSpc>
                <a:spcPts val="237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5" spc="-12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Оптимізація коду під мобільні платформи та мікроконтролери.</a:t>
            </a:r>
          </a:p>
          <a:p>
            <a:pPr algn="just" marL="473985" indent="-236993" lvl="1">
              <a:lnSpc>
                <a:spcPts val="237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5" spc="-12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Підключення хмарних баз даних для збереження логів трафіку.</a:t>
            </a:r>
          </a:p>
          <a:p>
            <a:pPr algn="just">
              <a:lnSpc>
                <a:spcPts val="2371"/>
              </a:lnSpc>
              <a:spcBef>
                <a:spcPct val="0"/>
              </a:spcBef>
            </a:pPr>
          </a:p>
        </p:txBody>
      </p:sp>
      <p:sp>
        <p:nvSpPr>
          <p:cNvPr name="AutoShape 7" id="7"/>
          <p:cNvSpPr/>
          <p:nvPr/>
        </p:nvSpPr>
        <p:spPr>
          <a:xfrm>
            <a:off x="1028700" y="2576686"/>
            <a:ext cx="9058423" cy="0"/>
          </a:xfrm>
          <a:prstGeom prst="line">
            <a:avLst/>
          </a:prstGeom>
          <a:ln cap="flat" w="123825">
            <a:solidFill>
              <a:srgbClr val="18507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7819543"/>
            <a:ext cx="13743572" cy="111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1"/>
              </a:lnSpc>
            </a:pPr>
            <a:r>
              <a:rPr lang="en-US" b="true" sz="7899" spc="-466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ДЯКУЮ ЗА УВАГУ!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DAHKl6vhhYI</dc:identifier>
  <dcterms:modified xsi:type="dcterms:W3CDTF">2011-08-01T06:04:30Z</dcterms:modified>
  <cp:revision>1</cp:revision>
  <dc:title>Blue and White Modern Business Proposal Presentation</dc:title>
</cp:coreProperties>
</file>